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the room. One-line hook: comparing building cloud infra by hand vs. as code. Mention it is a mid-project talk; measured results follow in the report.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points quickly. Set expectation: focus on context, design, outlook today; full results in the report after feedback.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Click-Ops and IaC clearly. Name Terraform as the de-facto standard. Keep plain and quick.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pains: scale, drift, no audit trail. Motivation is to MEASURE, not repeat marketing. Quickly list resources from the panel.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in one breath. Then READ the research question slowly — it anchors the whole talk. Two measurable dimensions: speed &amp; consistency.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system in one line. Then walk the criteria table — this shows rigor; each criterion has a concrete measurement. Linger here.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top to bottom: Internet → Load Balancer → auto-scaling app → Multi-AZ DB. Stress two AZs for fault tolerance. ‘Deliberately realistic, not a toy.’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tiers briefly, then the security chain: traffic only flows one way. Payload actually queries the DB, proving end-to-end.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modules, one command, dependency order. Testing is the differentiator: validate + 14 plan tests + app unit tests, all before touching the cloud.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steps: manual (stopwatch + errors), Terraform (timed apply + drift check), compare. Note same-day teardown for cost.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Phase-1 pilot to validate method. Headline ~3.8x faster (1h17 vs 20m). Expect the full 3-tier gap to be larger — manual complexity grows faster than code.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and app are written, tested, version-controlled — ready to deploy. Remaining: run the full experiment and capture numbers for the report.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2–3 aloud (don’t read all): CI/CD, remote state, policy-as-code, cost. Frame as natural extensions.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crisp takeaways — deliver with energy; this is what they remember.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feedback explicitly — it shapes the final experiment and report. Keep Q&amp;A answers short.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73152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0F172A"/>
                </a:solidFill>
                <a:latin typeface="Segoe UI Light"/>
              </a:rPr>
              <a:t>Infrastructure as Code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0F172A"/>
                </a:solidFill>
                <a:latin typeface="Segoe UI Semibold"/>
              </a:rPr>
              <a:t>vs. Manual Provisioning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4748B"/>
                </a:solidFill>
                <a:latin typeface="Segoe UI"/>
              </a:rPr>
              <a:t>A comparative study of Terraform and AWS Console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Rafael Aza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Master Colloquium 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Supervisor: Prof. Dr.-Ing. Marcus Purat  ·  July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5740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Context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What is IaC, and 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34056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340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15768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Target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The problem &amp; research question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92424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924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74136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Requirements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Evaluation criteria &amp; definitions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50792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32504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Functional Design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The 3-tier architecture &amp; tooling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90872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Methodology &amp; preliminary results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Work in progress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67528"/>
            <a:ext cx="457200" cy="4572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675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4924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 Semibold"/>
              </a:rPr>
              <a:t>Outlook 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— Next steps &amp; 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1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Two ways to build cloud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2920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Manual  ·  “Click-Ops”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Create each resource by hand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Click through the AWS Console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Every VPC, server, firewall rule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Manual, sequential, repetitive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57400"/>
            <a:ext cx="5029200" cy="329184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563EB"/>
                </a:solidFill>
                <a:latin typeface="Segoe UI Semibold"/>
              </a:rPr>
              <a:t>Infrastructure as Code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Define infra as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version-controlled code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Provision with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one command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Declarative &amp; state-aware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Tool: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Terraform</a:t>
            </a:r>
            <a:r>
              <a:rPr sz="1600" b="0" i="0">
                <a:solidFill>
                  <a:srgbClr val="0F172A"/>
                </a:solidFill>
                <a:latin typeface="Segoe UI"/>
              </a:rPr>
              <a:t> (industry standard)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1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583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The problems with doing it by hand: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Doesn’t scale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beyond a handful of resources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Environments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drift apart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over time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No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audit trail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of who changed what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Error-prone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and hard to reproduce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1">
                <a:solidFill>
                  <a:srgbClr val="2563EB"/>
                </a:solidFill>
                <a:latin typeface="Segoe UI Semibold"/>
              </a:rPr>
              <a:t>Motivation: measure the difference with real data — not vendor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57400"/>
            <a:ext cx="3474720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313432"/>
            <a:ext cx="2926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64748B"/>
                </a:solidFill>
                <a:latin typeface="Segoe UI Semibold"/>
              </a:rPr>
              <a:t>RESOURCES USED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  <a:latin typeface="Segoe UI"/>
              </a:rPr>
              <a:t>AWS  ·  eu-central-1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  <a:latin typeface="Segoe UI"/>
              </a:rPr>
              <a:t>Terraform v1.15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  <a:latin typeface="Segoe UI"/>
              </a:rPr>
              <a:t>WSL2 Ubuntu, AWS CLI, Node.js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  <a:latin typeface="Segoe UI"/>
              </a:rPr>
              <a:t>AWS promotional credits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0F172A"/>
                </a:solidFill>
                <a:latin typeface="Segoe UI"/>
              </a:rPr>
              <a:t>Git /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2 ·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The problem &amp;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Provisioning a realistic, multi-tier environment by hand is:</a:t>
            </a:r>
          </a:p>
          <a:p>
            <a:pPr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 i="0">
                <a:solidFill>
                  <a:srgbClr val="0F172A"/>
                </a:solidFill>
                <a:latin typeface="Segoe UI Semibold"/>
              </a:rPr>
              <a:t>Slow</a:t>
            </a:r>
            <a:r>
              <a:rPr sz="1600" b="1" i="0">
                <a:solidFill>
                  <a:srgbClr val="2563EB"/>
                </a:solidFill>
                <a:latin typeface="Segoe UI"/>
              </a:rPr>
              <a:t>      ●  </a:t>
            </a:r>
            <a:r>
              <a:rPr sz="1800" b="1" i="0">
                <a:solidFill>
                  <a:srgbClr val="0F172A"/>
                </a:solidFill>
                <a:latin typeface="Segoe UI Semibold"/>
              </a:rPr>
              <a:t>Inconsistent</a:t>
            </a:r>
            <a:r>
              <a:rPr sz="1600" b="1" i="0">
                <a:solidFill>
                  <a:srgbClr val="2563EB"/>
                </a:solidFill>
                <a:latin typeface="Segoe UI"/>
              </a:rPr>
              <a:t>      ●  </a:t>
            </a:r>
            <a:r>
              <a:rPr sz="1800" b="1" i="0">
                <a:solidFill>
                  <a:srgbClr val="0F172A"/>
                </a:solidFill>
                <a:latin typeface="Segoe UI Semibold"/>
              </a:rPr>
              <a:t>Hard to reproduce</a:t>
            </a:r>
            <a:r>
              <a:rPr sz="1600" b="1" i="0">
                <a:solidFill>
                  <a:srgbClr val="2563EB"/>
                </a:solidFill>
                <a:latin typeface="Segoe UI"/>
              </a:rPr>
              <a:t>      ●  </a:t>
            </a:r>
            <a:r>
              <a:rPr sz="1800" b="1" i="0">
                <a:solidFill>
                  <a:srgbClr val="0F172A"/>
                </a:solidFill>
                <a:latin typeface="Segoe UI Semibold"/>
              </a:rPr>
              <a:t>Opaque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40"/>
            <a:ext cx="10515600" cy="173736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749040"/>
            <a:ext cx="146304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05072"/>
            <a:ext cx="9692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FA8E0"/>
                </a:solidFill>
                <a:latin typeface="Segoe UI Semibold"/>
              </a:rPr>
              <a:t>RESEARCH QUESTION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To what extent does IaC (Terraform) improve the deployment speed and operational consistency of AWS resources compared to manual provisioning?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3 ·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Evaluation criteria &amp;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64748B"/>
                </a:solidFill>
                <a:latin typeface="Segoe UI"/>
              </a:rPr>
              <a:t>A production-shaped 3-tier system, deployed twice (manual &amp; Terraform) under identical specs.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56032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420624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Criterion</a:t>
                      </a:r>
                    </a:p>
                  </a:txBody>
                  <a:tcPr marL="137160" marR="137160" marT="54864" marB="54864" anchor="ctr">
                    <a:solidFill>
                      <a:srgbClr val="1E29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Definition</a:t>
                      </a:r>
                    </a:p>
                  </a:txBody>
                  <a:tcPr marL="137160" marR="137160" marT="54864" marB="54864" anchor="ctr">
                    <a:solidFill>
                      <a:srgbClr val="1E29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How measured</a:t>
                      </a:r>
                    </a:p>
                  </a:txBody>
                  <a:tcPr marL="137160" marR="137160" marT="54864" marB="54864" anchor="ctr">
                    <a:solidFill>
                      <a:srgbClr val="1E294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Segoe UI"/>
                        </a:rPr>
                        <a:t>Deployment speed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Time from start to app serving traffic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Stopwatch  vs  time terraform apply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Segoe UI"/>
                        </a:rPr>
                        <a:t>Consistency / drift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Reproducibility across runs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Error count  vs  terraform plan = “No changes”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Segoe UI"/>
                        </a:rPr>
                        <a:t>Auditability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Ability to trace configuration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Manual notes  vs  state file + Git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F172A"/>
                          </a:solidFill>
                          <a:latin typeface="Segoe UI"/>
                        </a:rPr>
                        <a:t>Rollback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Effort to tear the stack down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4748B"/>
                          </a:solidFill>
                          <a:latin typeface="Segoe UI"/>
                        </a:rPr>
                        <a:t>Console deletion  vs  terraform destroy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4 · FUNCTIONAL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The 3-tier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965960"/>
            <a:ext cx="493776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965960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  <a:latin typeface="Segoe UI Semibold"/>
              </a:rPr>
              <a:t>Internet  →  Internet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3118104"/>
            <a:ext cx="4937760" cy="841248"/>
          </a:xfrm>
          <a:prstGeom prst="roundRect">
            <a:avLst/>
          </a:prstGeom>
          <a:solidFill>
            <a:srgbClr val="EAF1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3118104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Application Load Balancer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270248"/>
            <a:ext cx="4937760" cy="841248"/>
          </a:xfrm>
          <a:prstGeom prst="roundRect">
            <a:avLst/>
          </a:prstGeom>
          <a:solidFill>
            <a:srgbClr val="EAF1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270248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Auto Scaling Group  ·  EC2 t3.micro  ·  Node.js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5422392"/>
            <a:ext cx="4937760" cy="841248"/>
          </a:xfrm>
          <a:prstGeom prst="roundRect">
            <a:avLst/>
          </a:prstGeom>
          <a:solidFill>
            <a:srgbClr val="EAF1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5422392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Segoe UI Semibold"/>
              </a:rPr>
              <a:t>RDS MySQL 8.0  (Multi-AZ)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2392" y="2807208"/>
            <a:ext cx="36576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2392" y="3959352"/>
            <a:ext cx="36576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22392" y="5111496"/>
            <a:ext cx="36576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2194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64748B"/>
                </a:solidFill>
                <a:latin typeface="Segoe UI Semibold"/>
              </a:rPr>
              <a:t>Spans 2
Availability
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2057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Public subnets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18104"/>
            <a:ext cx="2057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Public subnets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0248"/>
            <a:ext cx="2057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Private app subnets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22392"/>
            <a:ext cx="2057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Private DB subnets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4 · FUNCTIONAL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Design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Network: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custom VPC, 6 subnets across 2 AZs, Internet + NAT gateways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Security: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least-privilege chain — nothing reaches the database directly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Compute: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load-balanced, auto-scaling application tier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Data: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Multi-AZ RDS for fault tolerance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Payload: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a small app that queries the DB — proves the full chain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09160"/>
            <a:ext cx="21031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709160"/>
            <a:ext cx="502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Segoe UI Semibol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709160"/>
            <a:ext cx="2103120" cy="64008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7091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ALB :80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709160"/>
            <a:ext cx="502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Segoe UI Semi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709160"/>
            <a:ext cx="2103120" cy="64008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7091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EC2 :4000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09160"/>
            <a:ext cx="502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Segoe UI Semi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4709160"/>
            <a:ext cx="2103120" cy="64008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7091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RDS :3306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4 · FUNCTIONAL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The Terraform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400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Split into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4 reusable modules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64748B"/>
                </a:solidFill>
                <a:latin typeface="Segoe UI Semibold"/>
              </a:rPr>
              <a:t>     vpc  ·  security  ·  database  ·  compute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One command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provisions everything in dependency order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Every resource is code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 — reviewable, repeatable, versioned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057400"/>
            <a:ext cx="3657600" cy="3200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233172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059669"/>
                </a:solidFill>
                <a:latin typeface="Segoe UI Semibold"/>
              </a:rPr>
              <a:t>TESTED BEFORE DEPLOY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terraform validate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14 automated plan tests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application unit tests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1">
                <a:solidFill>
                  <a:srgbClr val="64748B"/>
                </a:solidFill>
                <a:latin typeface="Segoe UI"/>
              </a:rPr>
              <a:t>All green — no cloud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How the comparison is measured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Manual run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Provision the full stack via the AWS Console. Stopwatch the process; log every error and rework.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5468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Terraform run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time terraform apply. Verify the app responds; re-run terraform plan to prove zero drift.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Compare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Speed, consistency, auditability, rollback — side by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1">
                <a:solidFill>
                  <a:srgbClr val="2563EB"/>
                </a:solidFill>
                <a:latin typeface="Segoe UI Semibold"/>
              </a:rPr>
              <a:t>Both environments are destroyed the same day — strict cost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5 · 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Phase-1 pilot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64748B"/>
                </a:solidFill>
                <a:latin typeface="Segoe UI"/>
              </a:rPr>
              <a:t>A simplified pilot (single VPC + EC2) validated the measurement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6576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70632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Segoe UI Semibold"/>
              </a:rPr>
              <a:t>Manual (Console)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64748B"/>
                </a:solidFill>
                <a:latin typeface="Segoe UI Semibold"/>
              </a:rPr>
              <a:t>01:17:40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514600"/>
            <a:ext cx="3657600" cy="173736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770632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Segoe UI Semibold"/>
              </a:rPr>
              <a:t>Terraform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2563EB"/>
                </a:solidFill>
                <a:latin typeface="Segoe UI Semibold"/>
              </a:rPr>
              <a:t>00:20:00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514600"/>
            <a:ext cx="2103120" cy="17373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83464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~3.8×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0F172A"/>
                </a:solidFill>
                <a:latin typeface="Segoe UI"/>
              </a:rPr>
              <a:t>Even at small scale, Terraform is decisively faster — the full 3-tier run is expected to widen the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5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Where the project stands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29200" cy="3291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59669"/>
                </a:solidFill>
                <a:latin typeface="Segoe UI Semibold"/>
              </a:rPr>
              <a:t>DONE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Architecture designed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Terraform code written (4 modules)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Application built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All tests passing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✓  On GitHub, version-controlled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57400"/>
            <a:ext cx="502920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563EB"/>
                </a:solidFill>
                <a:latin typeface="Segoe UI Semibold"/>
              </a:rPr>
              <a:t>NEXT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→  Run full 3-tier manual deployment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→  Run full 3-tier Terraform deployment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→  Capture real timings &amp; drift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→  Comparative charts for the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FA8E0"/>
                </a:solidFill>
                <a:latin typeface="Segoe UI Semibold"/>
              </a:rPr>
              <a:t>6 · Outlook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6C2D9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6C2D9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→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Complete the empirical run  </a:t>
            </a:r>
            <a:r>
              <a:rPr sz="1600" b="0" i="0">
                <a:solidFill>
                  <a:srgbClr val="B6C2D9"/>
                </a:solidFill>
                <a:latin typeface="Segoe UI"/>
              </a:rPr>
              <a:t>— full 3-tier data for the report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→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CI/CD integration  </a:t>
            </a:r>
            <a:r>
              <a:rPr sz="1600" b="0" i="0">
                <a:solidFill>
                  <a:srgbClr val="B6C2D9"/>
                </a:solidFill>
                <a:latin typeface="Segoe UI"/>
              </a:rPr>
              <a:t>— Terraform on every git push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→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Remote state &amp; locking  </a:t>
            </a:r>
            <a:r>
              <a:rPr sz="1600" b="0" i="0">
                <a:solidFill>
                  <a:srgbClr val="B6C2D9"/>
                </a:solidFill>
                <a:latin typeface="Segoe UI"/>
              </a:rPr>
              <a:t>— team-safe collaboration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→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Policy as code  </a:t>
            </a:r>
            <a:r>
              <a:rPr sz="1600" b="0" i="0">
                <a:solidFill>
                  <a:srgbClr val="B6C2D9"/>
                </a:solidFill>
                <a:latin typeface="Segoe UI"/>
              </a:rPr>
              <a:t>— automated security checks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→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Cost analysis  </a:t>
            </a:r>
            <a:r>
              <a:rPr sz="1600" b="0" i="0">
                <a:solidFill>
                  <a:srgbClr val="B6C2D9"/>
                </a:solidFill>
                <a:latin typeface="Segoe UI"/>
              </a:rPr>
              <a:t>— quantify operational savings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02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—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IaC replaces error-prone manual clicking with version-controlled, repeatable code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—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Designed &amp; built a production-grade 3-tier AWS architecture, deployable both ways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—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Defined clear, measurable criteria: speed, consistency, auditability, rollback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—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Pilot data already shows a decisive speed advantage for Terraform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—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Full empirical comparison follows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IaC vs Manual AWS Provisioning  ·  Master Colloquium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B6C2D9"/>
                </a:solidFill>
                <a:latin typeface="Segoe UI"/>
              </a:rPr>
              <a:t>Questions &amp; feedback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8FA8E0"/>
                </a:solidFill>
                <a:latin typeface="Segoe UI"/>
              </a:rPr>
              <a:t>Rafael Aza  ·  Master Colloquium B  ·  Prof. Dr.-Ing. Marcus Purat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